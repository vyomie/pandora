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uce Bold" charset="1" panose="00000800000000000000"/>
      <p:regular r:id="rId26"/>
    </p:embeddedFont>
    <p:embeddedFont>
      <p:font typeface="Open Sauce" charset="1" panose="00000500000000000000"/>
      <p:regular r:id="rId27"/>
    </p:embeddedFont>
    <p:embeddedFont>
      <p:font typeface="Canva Sans" charset="1" panose="020B0503030501040103"/>
      <p:regular r:id="rId28"/>
    </p:embeddedFont>
    <p:embeddedFont>
      <p:font typeface="Helvetica World Bold Italics" charset="1" panose="020B0800040000090004"/>
      <p:regular r:id="rId29"/>
    </p:embeddedFont>
    <p:embeddedFont>
      <p:font typeface="Open Sauce Bold Italics" charset="1" panose="00000800000000000000"/>
      <p:regular r:id="rId30"/>
    </p:embeddedFont>
    <p:embeddedFont>
      <p:font typeface="Open Sauce Italics" charset="1" panose="00000500000000000000"/>
      <p:regular r:id="rId31"/>
    </p:embeddedFont>
    <p:embeddedFont>
      <p:font typeface="Canva Sans Bold" charset="1" panose="020B0803030501040103"/>
      <p:regular r:id="rId32"/>
    </p:embeddedFont>
    <p:embeddedFont>
      <p:font typeface="Canva Sans Italics" charset="1" panose="020B0503030501040103"/>
      <p:regular r:id="rId33"/>
    </p:embeddedFont>
    <p:embeddedFont>
      <p:font typeface="Helvetica World Bold" charset="1" panose="020B0800040000020004"/>
      <p:regular r:id="rId34"/>
    </p:embeddedFont>
    <p:embeddedFont>
      <p:font typeface="Helvetica World" charset="1" panose="020B0500040000020004"/>
      <p:regular r:id="rId35"/>
    </p:embeddedFont>
    <p:embeddedFont>
      <p:font typeface="Brittany" charset="1" panose="00000000000000000000"/>
      <p:regular r:id="rId36"/>
    </p:embeddedFont>
    <p:embeddedFont>
      <p:font typeface="Garet Bold" charset="1" panose="00000000000000000000"/>
      <p:regular r:id="rId37"/>
    </p:embeddedFont>
    <p:embeddedFont>
      <p:font typeface="TT Interphases Bold" charset="1" panose="02000803060000020004"/>
      <p:regular r:id="rId38"/>
    </p:embeddedFont>
    <p:embeddedFont>
      <p:font typeface="TT Interphases" charset="1" panose="02000503020000020004"/>
      <p:regular r:id="rId39"/>
    </p:embeddedFont>
    <p:embeddedFont>
      <p:font typeface="TT Interphases Bold Italics" charset="1" panose="02000803000000090004"/>
      <p:regular r:id="rId40"/>
    </p:embeddedFont>
    <p:embeddedFont>
      <p:font typeface="TT Interphases Italics" charset="1" panose="020005030200000900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https://github.com/Vyomie/Pandora" TargetMode="External" Type="http://schemas.openxmlformats.org/officeDocument/2006/relationships/hyperlink"/><Relationship Id="rId6" Target="https://pandora.vyxm.i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98181" y="0"/>
            <a:ext cx="4389819" cy="10287000"/>
            <a:chOff x="0" y="0"/>
            <a:chExt cx="115616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616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56166">
                  <a:moveTo>
                    <a:pt x="0" y="0"/>
                  </a:moveTo>
                  <a:lnTo>
                    <a:pt x="1156166" y="0"/>
                  </a:lnTo>
                  <a:lnTo>
                    <a:pt x="115616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56166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408617"/>
            <a:ext cx="849683" cy="849683"/>
          </a:xfrm>
          <a:custGeom>
            <a:avLst/>
            <a:gdLst/>
            <a:ahLst/>
            <a:cxnLst/>
            <a:rect r="r" b="b" t="t" l="l"/>
            <a:pathLst>
              <a:path h="849683" w="849683">
                <a:moveTo>
                  <a:pt x="0" y="0"/>
                </a:moveTo>
                <a:lnTo>
                  <a:pt x="849683" y="0"/>
                </a:lnTo>
                <a:lnTo>
                  <a:pt x="849683" y="849683"/>
                </a:lnTo>
                <a:lnTo>
                  <a:pt x="0" y="84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983469" y="2617380"/>
            <a:ext cx="5275831" cy="10439139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8595" r="0" b="-18595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969150" y="643604"/>
            <a:ext cx="1892600" cy="1892600"/>
          </a:xfrm>
          <a:custGeom>
            <a:avLst/>
            <a:gdLst/>
            <a:ahLst/>
            <a:cxnLst/>
            <a:rect r="r" b="b" t="t" l="l"/>
            <a:pathLst>
              <a:path h="1892600" w="1892600">
                <a:moveTo>
                  <a:pt x="0" y="0"/>
                </a:moveTo>
                <a:lnTo>
                  <a:pt x="1892600" y="0"/>
                </a:lnTo>
                <a:lnTo>
                  <a:pt x="1892600" y="1892601"/>
                </a:lnTo>
                <a:lnTo>
                  <a:pt x="0" y="1892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095375"/>
            <a:ext cx="8987159" cy="105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6"/>
              </a:lnSpc>
            </a:pPr>
            <a:r>
              <a:rPr lang="en-US" b="true" sz="7378" spc="-221">
                <a:solidFill>
                  <a:srgbClr val="6B1F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PANDORA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052603"/>
            <a:ext cx="4940450" cy="98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31" spc="-10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AI E-250500</a:t>
            </a:r>
          </a:p>
          <a:p>
            <a:pPr algn="l">
              <a:lnSpc>
                <a:spcPts val="388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65627" y="2267288"/>
            <a:ext cx="4910435" cy="47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sz="278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Vyom N. Patel, Vrushal Modh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5627" y="3713556"/>
            <a:ext cx="44009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24524" y="-171862"/>
            <a:ext cx="19733847" cy="10287000"/>
            <a:chOff x="0" y="0"/>
            <a:chExt cx="519739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5197392">
                  <a:moveTo>
                    <a:pt x="0" y="0"/>
                  </a:moveTo>
                  <a:lnTo>
                    <a:pt x="5197392" y="0"/>
                  </a:lnTo>
                  <a:lnTo>
                    <a:pt x="51973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5197392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95250"/>
            <a:ext cx="8888935" cy="28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b="true" sz="9999" spc="-29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236" y="3134278"/>
            <a:ext cx="15427399" cy="557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b="true" sz="3217" i="true" spc="-96">
                <a:solidFill>
                  <a:srgbClr val="FF2828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STEM</a:t>
            </a:r>
            <a:r>
              <a:rPr lang="en-US" b="true" sz="3217" i="true" spc="-96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education in India is too </a:t>
            </a:r>
            <a:r>
              <a:rPr lang="en-US" b="true" sz="3217" i="true" spc="-96">
                <a:solidFill>
                  <a:srgbClr val="FF2828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theoretical</a:t>
            </a:r>
            <a:r>
              <a:rPr lang="en-US" b="true" sz="3217" i="true" spc="-96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—students struggle to visualize Maths &amp; Physics. Existing AI videos lack </a:t>
            </a:r>
            <a:r>
              <a:rPr lang="en-US" b="true" sz="3217" i="true" spc="-96">
                <a:solidFill>
                  <a:srgbClr val="FF2828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accuracy</a:t>
            </a:r>
            <a:r>
              <a:rPr lang="en-US" b="true" sz="3217" i="true" spc="-96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and </a:t>
            </a:r>
            <a:r>
              <a:rPr lang="en-US" b="true" sz="3217" i="true" spc="-96">
                <a:solidFill>
                  <a:srgbClr val="FF2828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consistency.</a:t>
            </a:r>
          </a:p>
          <a:p>
            <a:pPr algn="l">
              <a:lnSpc>
                <a:spcPts val="3539"/>
              </a:lnSpc>
            </a:pPr>
            <a:r>
              <a:rPr lang="en-US" b="true" sz="3217" i="true" spc="-96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Challenges:</a:t>
            </a:r>
          </a:p>
          <a:p>
            <a:pPr algn="l" marL="629979" indent="-314989" lvl="1">
              <a:lnSpc>
                <a:spcPts val="3209"/>
              </a:lnSpc>
              <a:buFont typeface="Arial"/>
              <a:buChar char="•"/>
            </a:pPr>
            <a:r>
              <a:rPr lang="en-US" b="true" sz="2917" i="true" spc="-87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Precise real-time visualization of equations</a:t>
            </a:r>
          </a:p>
          <a:p>
            <a:pPr algn="l" marL="629979" indent="-314989" lvl="1">
              <a:lnSpc>
                <a:spcPts val="3209"/>
              </a:lnSpc>
              <a:buFont typeface="Arial"/>
              <a:buChar char="•"/>
            </a:pPr>
            <a:r>
              <a:rPr lang="en-US" b="true" sz="2917" i="true" spc="-87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Consistent, adaptive AI content</a:t>
            </a:r>
          </a:p>
          <a:p>
            <a:pPr algn="l" marL="629979" indent="-314989" lvl="1">
              <a:lnSpc>
                <a:spcPts val="3209"/>
              </a:lnSpc>
              <a:buFont typeface="Arial"/>
              <a:buChar char="•"/>
            </a:pPr>
            <a:r>
              <a:rPr lang="en-US" b="true" sz="2917" i="true" spc="-87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Offline + low-RAM performance</a:t>
            </a:r>
          </a:p>
          <a:p>
            <a:pPr algn="l" marL="629979" indent="-314989" lvl="1">
              <a:lnSpc>
                <a:spcPts val="3209"/>
              </a:lnSpc>
              <a:buFont typeface="Arial"/>
              <a:buChar char="•"/>
            </a:pPr>
            <a:r>
              <a:rPr lang="en-US" b="true" sz="2917" i="true" spc="-87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Multilingual &amp; cross-device support</a:t>
            </a:r>
          </a:p>
          <a:p>
            <a:pPr algn="l">
              <a:lnSpc>
                <a:spcPts val="3539"/>
              </a:lnSpc>
            </a:pPr>
            <a:r>
              <a:rPr lang="en-US" b="true" sz="3217" i="true" spc="-96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Users:</a:t>
            </a:r>
          </a:p>
          <a:p>
            <a:pPr algn="l">
              <a:lnSpc>
                <a:spcPts val="3209"/>
              </a:lnSpc>
            </a:pPr>
            <a:r>
              <a:rPr lang="en-US" b="true" sz="2917" i="true" spc="-87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Rural students &amp; teachers</a:t>
            </a:r>
          </a:p>
          <a:p>
            <a:pPr algn="l">
              <a:lnSpc>
                <a:spcPts val="3539"/>
              </a:lnSpc>
            </a:pPr>
            <a:r>
              <a:rPr lang="en-US" b="true" sz="3217" i="true" spc="-96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Success Metrics:</a:t>
            </a:r>
          </a:p>
          <a:p>
            <a:pPr algn="l">
              <a:lnSpc>
                <a:spcPts val="3209"/>
              </a:lnSpc>
            </a:pPr>
            <a:r>
              <a:rPr lang="en-US" b="true" sz="2917" i="true" spc="-87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 &lt;1.5s render time • 10K+ users • 90% NCERT coverage</a:t>
            </a:r>
          </a:p>
          <a:p>
            <a:pPr algn="l">
              <a:lnSpc>
                <a:spcPts val="320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8088" y="5987566"/>
            <a:ext cx="18516088" cy="4299434"/>
            <a:chOff x="0" y="0"/>
            <a:chExt cx="4876665" cy="11323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665" cy="1132361"/>
            </a:xfrm>
            <a:custGeom>
              <a:avLst/>
              <a:gdLst/>
              <a:ahLst/>
              <a:cxnLst/>
              <a:rect r="r" b="b" t="t" l="l"/>
              <a:pathLst>
                <a:path h="1132361" w="4876665">
                  <a:moveTo>
                    <a:pt x="0" y="0"/>
                  </a:moveTo>
                  <a:lnTo>
                    <a:pt x="4876665" y="0"/>
                  </a:lnTo>
                  <a:lnTo>
                    <a:pt x="4876665" y="1132361"/>
                  </a:lnTo>
                  <a:lnTo>
                    <a:pt x="0" y="1132361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76665" cy="1113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341820"/>
            <a:ext cx="7842299" cy="241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b="true" sz="2899" i="true" spc="-86">
                <a:solidFill>
                  <a:srgbClr val="68503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Pitch:</a:t>
            </a:r>
          </a:p>
          <a:p>
            <a:pPr algn="l">
              <a:lnSpc>
                <a:spcPts val="3189"/>
              </a:lnSpc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An AI-powered STEM learning platform that transforms abstract Maths &amp; Physics concepts into precise, interactive visualizations, combining generative AI with verified scientific rendering tools like                  and LaTeX.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099215" y="4146340"/>
            <a:ext cx="1860226" cy="834604"/>
          </a:xfrm>
          <a:custGeom>
            <a:avLst/>
            <a:gdLst/>
            <a:ahLst/>
            <a:cxnLst/>
            <a:rect r="r" b="b" t="t" l="l"/>
            <a:pathLst>
              <a:path h="834604" w="1860226">
                <a:moveTo>
                  <a:pt x="0" y="0"/>
                </a:moveTo>
                <a:lnTo>
                  <a:pt x="1860226" y="0"/>
                </a:lnTo>
                <a:lnTo>
                  <a:pt x="1860226" y="834604"/>
                </a:lnTo>
                <a:lnTo>
                  <a:pt x="0" y="834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39486"/>
            <a:ext cx="13475696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spc="-29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25789"/>
            <a:ext cx="8001256" cy="321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b="true" sz="2899" i="true" spc="-86">
                <a:solidFill>
                  <a:srgbClr val="68503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Key</a:t>
            </a:r>
            <a:r>
              <a:rPr lang="en-US" b="true" sz="2899" i="true" spc="-86">
                <a:solidFill>
                  <a:srgbClr val="68503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Differentiators: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Real-time, accurate equation-to-animation generation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Visual + mathematical consistency across topics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Adaptive learning personalized to each student</a:t>
            </a:r>
          </a:p>
          <a:p>
            <a:pPr algn="l">
              <a:lnSpc>
                <a:spcPts val="318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718111" y="2341820"/>
            <a:ext cx="8001256" cy="761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b="true" sz="2899" i="true" spc="-86">
                <a:solidFill>
                  <a:srgbClr val="68503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User Journey:</a:t>
            </a:r>
          </a:p>
          <a:p>
            <a:pPr algn="l">
              <a:lnSpc>
                <a:spcPts val="3189"/>
              </a:lnSpc>
            </a:pPr>
            <a:r>
              <a:rPr lang="en-US" sz="2899" i="true" spc="-86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Before:</a:t>
            </a: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Static notes, theoretical lectures, inconsistent AI visuals.</a:t>
            </a:r>
          </a:p>
          <a:p>
            <a:pPr algn="l">
              <a:lnSpc>
                <a:spcPts val="3189"/>
              </a:lnSpc>
            </a:pPr>
            <a:r>
              <a:rPr lang="en-US" sz="2899" i="true" spc="-86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After:</a:t>
            </a: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Interactive, accurate, multilingual visual lessons accessible on any device.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3189"/>
              </a:lnSpc>
            </a:pPr>
            <a:r>
              <a:rPr lang="en-US" b="true" sz="2899" i="true" spc="-86">
                <a:solidFill>
                  <a:srgbClr val="68503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Expected Impact: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Improved </a:t>
            </a:r>
            <a:r>
              <a:rPr lang="en-US" sz="2899" i="true" spc="-86">
                <a:solidFill>
                  <a:srgbClr val="FC4C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conceptual understanding</a:t>
            </a: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&amp; </a:t>
            </a:r>
            <a:r>
              <a:rPr lang="en-US" sz="2899" i="true" spc="-86">
                <a:solidFill>
                  <a:srgbClr val="FC4C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engagement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Scalable access for </a:t>
            </a:r>
            <a:r>
              <a:rPr lang="en-US" sz="2899" i="true" spc="-86">
                <a:solidFill>
                  <a:srgbClr val="FC4C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low-re</a:t>
            </a:r>
            <a:r>
              <a:rPr lang="en-US" sz="2899" i="true" spc="-86">
                <a:solidFill>
                  <a:srgbClr val="FC4C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source schools and NGOs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Reduced learning gap in </a:t>
            </a:r>
            <a:r>
              <a:rPr lang="en-US" sz="2899" i="true" spc="-86">
                <a:solidFill>
                  <a:srgbClr val="FC4C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rural STEM education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3189"/>
              </a:lnSpc>
            </a:pPr>
            <a:r>
              <a:rPr lang="en-US" b="true" sz="2899" i="true" spc="-86">
                <a:solidFill>
                  <a:srgbClr val="68503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Alignment with Problem Statement:</a:t>
            </a:r>
          </a:p>
          <a:p>
            <a:pPr algn="l">
              <a:lnSpc>
                <a:spcPts val="3189"/>
              </a:lnSpc>
            </a:pPr>
            <a:r>
              <a:rPr lang="en-US" sz="2899" i="true" spc="-86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Directly addresses the lack of visual, adaptive, and accurate STEM content by merging AI adaptability with scientific precision.</a:t>
            </a:r>
          </a:p>
          <a:p>
            <a:pPr algn="l">
              <a:lnSpc>
                <a:spcPts val="318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54732" y="6519856"/>
            <a:ext cx="1372178" cy="615637"/>
          </a:xfrm>
          <a:custGeom>
            <a:avLst/>
            <a:gdLst/>
            <a:ahLst/>
            <a:cxnLst/>
            <a:rect r="r" b="b" t="t" l="l"/>
            <a:pathLst>
              <a:path h="615637" w="1372178">
                <a:moveTo>
                  <a:pt x="0" y="0"/>
                </a:moveTo>
                <a:lnTo>
                  <a:pt x="1372178" y="0"/>
                </a:lnTo>
                <a:lnTo>
                  <a:pt x="1372178" y="615637"/>
                </a:lnTo>
                <a:lnTo>
                  <a:pt x="0" y="615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80092" y="6980894"/>
            <a:ext cx="1372178" cy="615637"/>
          </a:xfrm>
          <a:custGeom>
            <a:avLst/>
            <a:gdLst/>
            <a:ahLst/>
            <a:cxnLst/>
            <a:rect r="r" b="b" t="t" l="l"/>
            <a:pathLst>
              <a:path h="615637" w="1372178">
                <a:moveTo>
                  <a:pt x="0" y="0"/>
                </a:moveTo>
                <a:lnTo>
                  <a:pt x="1372178" y="0"/>
                </a:lnTo>
                <a:lnTo>
                  <a:pt x="1372178" y="615637"/>
                </a:lnTo>
                <a:lnTo>
                  <a:pt x="0" y="615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21690" y="3563671"/>
            <a:ext cx="8238261" cy="471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536" b="true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Components:</a:t>
            </a:r>
          </a:p>
          <a:p>
            <a:pPr algn="l" marL="526036" indent="-263018" lvl="1">
              <a:lnSpc>
                <a:spcPts val="3411"/>
              </a:lnSpc>
              <a:buFont typeface="Arial"/>
              <a:buChar char="•"/>
            </a:pPr>
            <a:r>
              <a:rPr lang="en-US" sz="2436" i="true">
                <a:solidFill>
                  <a:srgbClr val="68503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Frontend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Flutter 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app (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Android, Desktop)</a:t>
            </a:r>
          </a:p>
          <a:p>
            <a:pPr algn="l" marL="526036" indent="-263018" lvl="1">
              <a:lnSpc>
                <a:spcPts val="3411"/>
              </a:lnSpc>
              <a:buFont typeface="Arial"/>
              <a:buChar char="•"/>
            </a:pPr>
            <a:r>
              <a:rPr lang="en-US" sz="2436" i="true">
                <a:solidFill>
                  <a:srgbClr val="68503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Backend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Firebase 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(Auth), 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MongoDB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  &amp; 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Node.js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(content library)</a:t>
            </a:r>
          </a:p>
          <a:p>
            <a:pPr algn="l" marL="526036" indent="-263018" lvl="1">
              <a:lnSpc>
                <a:spcPts val="3411"/>
              </a:lnSpc>
              <a:buFont typeface="Arial"/>
              <a:buChar char="•"/>
            </a:pPr>
            <a:r>
              <a:rPr lang="en-US" sz="2436" i="true">
                <a:solidFill>
                  <a:srgbClr val="68503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AI/ML: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OpenRouter 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models for adaptive learning &amp; AI explanations</a:t>
            </a:r>
          </a:p>
          <a:p>
            <a:pPr algn="l" marL="526036" indent="-263018" lvl="1">
              <a:lnSpc>
                <a:spcPts val="3411"/>
              </a:lnSpc>
              <a:buFont typeface="Arial"/>
              <a:buChar char="•"/>
            </a:pPr>
            <a:r>
              <a:rPr lang="en-US" sz="2436" i="true">
                <a:solidFill>
                  <a:srgbClr val="68503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Custom API: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vyxm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Raspberry Pi 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server) for </a:t>
            </a:r>
            <a:r>
              <a:rPr lang="en-US" b="true" sz="2436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PPT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 generation &amp;                  integration</a:t>
            </a:r>
          </a:p>
          <a:p>
            <a:pPr algn="l" marL="526036" indent="-263018" lvl="1">
              <a:lnSpc>
                <a:spcPts val="3411"/>
              </a:lnSpc>
              <a:buFont typeface="Arial"/>
              <a:buChar char="•"/>
            </a:pPr>
            <a:r>
              <a:rPr lang="en-US" sz="2436" i="true">
                <a:solidFill>
                  <a:srgbClr val="68503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Cloud Render: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36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processing (math/physics animations – heavy compute)</a:t>
            </a:r>
          </a:p>
          <a:p>
            <a:pPr algn="l">
              <a:lnSpc>
                <a:spcPts val="341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171252" y="3903277"/>
            <a:ext cx="1372178" cy="615637"/>
          </a:xfrm>
          <a:custGeom>
            <a:avLst/>
            <a:gdLst/>
            <a:ahLst/>
            <a:cxnLst/>
            <a:rect r="r" b="b" t="t" l="l"/>
            <a:pathLst>
              <a:path h="615637" w="1372178">
                <a:moveTo>
                  <a:pt x="0" y="0"/>
                </a:moveTo>
                <a:lnTo>
                  <a:pt x="1372178" y="0"/>
                </a:lnTo>
                <a:lnTo>
                  <a:pt x="1372178" y="615638"/>
                </a:lnTo>
                <a:lnTo>
                  <a:pt x="0" y="615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259172" y="871705"/>
            <a:ext cx="1202045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6999" spc="-20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1690" y="2038821"/>
            <a:ext cx="11713478" cy="135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8"/>
              </a:lnSpc>
            </a:pPr>
            <a:r>
              <a:rPr lang="en-US" sz="2591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Hybri</a:t>
            </a:r>
            <a:r>
              <a:rPr lang="en-US" sz="2591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d cloud architecture using Flutter frontend, Firebase Auth, MongoDB content library, OpenRouter AI, and a custom API (api.vyxm.in) hosted on an Raspberry Pi server for online content generation.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08595" y="3573196"/>
            <a:ext cx="5897494" cy="496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4"/>
              </a:lnSpc>
            </a:pPr>
            <a:r>
              <a:rPr lang="en-US" sz="2410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</a:t>
            </a:r>
            <a:r>
              <a:rPr lang="en-US" b="true" sz="2410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 vs Local:</a:t>
            </a:r>
          </a:p>
          <a:p>
            <a:pPr algn="l" marL="520361" indent="-260180" lvl="1">
              <a:lnSpc>
                <a:spcPts val="3374"/>
              </a:lnSpc>
              <a:buFont typeface="Arial"/>
              <a:buChar char="•"/>
            </a:pPr>
            <a:r>
              <a:rPr lang="en-US" sz="2410" i="true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Cloud</a:t>
            </a:r>
            <a:r>
              <a:rPr lang="en-US" sz="2410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: AI +                 rendering (compute-heavy)</a:t>
            </a:r>
          </a:p>
          <a:p>
            <a:pPr algn="l" marL="520361" indent="-260180" lvl="1">
              <a:lnSpc>
                <a:spcPts val="3374"/>
              </a:lnSpc>
              <a:buFont typeface="Arial"/>
              <a:buChar char="•"/>
            </a:pPr>
            <a:r>
              <a:rPr lang="en-US" sz="2410" i="true">
                <a:solidFill>
                  <a:srgbClr val="68503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Local:</a:t>
            </a:r>
            <a:r>
              <a:rPr lang="en-US" sz="2410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Content viewing, caching, quizzes</a:t>
            </a:r>
          </a:p>
          <a:p>
            <a:pPr algn="l">
              <a:lnSpc>
                <a:spcPts val="3374"/>
              </a:lnSpc>
            </a:pPr>
          </a:p>
          <a:p>
            <a:pPr algn="just">
              <a:lnSpc>
                <a:spcPts val="3374"/>
              </a:lnSpc>
            </a:pPr>
            <a:r>
              <a:rPr lang="en-US" b="true" sz="2410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Scalability:</a:t>
            </a:r>
          </a:p>
          <a:p>
            <a:pPr algn="just">
              <a:lnSpc>
                <a:spcPts val="3374"/>
              </a:lnSpc>
            </a:pPr>
            <a:r>
              <a:rPr lang="en-US" sz="2410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Modular microservices, CDN caching, load-balanced cloud rendering, and containerized Raspberry Pi endpoints for distributed scaling.</a:t>
            </a:r>
          </a:p>
          <a:p>
            <a:pPr algn="just">
              <a:lnSpc>
                <a:spcPts val="295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895" y="0"/>
            <a:ext cx="9905105" cy="10287000"/>
            <a:chOff x="0" y="0"/>
            <a:chExt cx="260875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87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08752">
                  <a:moveTo>
                    <a:pt x="0" y="0"/>
                  </a:moveTo>
                  <a:lnTo>
                    <a:pt x="2608752" y="0"/>
                  </a:lnTo>
                  <a:lnTo>
                    <a:pt x="26087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608752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627166"/>
            <a:ext cx="7370039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spc="-29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51172" y="811757"/>
            <a:ext cx="9536828" cy="889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Database: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MongoDB – Scalable NoSQL for content library &amp; metadata.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Firebase – Auth, analyt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cs, a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real-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sync.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3189"/>
              </a:lnSpc>
            </a:pP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Inf</a:t>
            </a:r>
            <a:r>
              <a:rPr lang="en-US" b="true" sz="2899" spc="-86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</a:t>
            </a: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stru</a:t>
            </a:r>
            <a:r>
              <a:rPr lang="en-US" b="true" sz="2899" spc="-86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ct</a:t>
            </a: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ure: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yxm.in (R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berry P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Ser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r) – Custom API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endpoint for AI Edu PPTs.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Cloud: Raspberry Pi Server for Manim rendering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3189"/>
              </a:lnSpc>
            </a:pP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DevOps: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Docker for containerized deployment.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3189"/>
              </a:lnSpc>
            </a:pP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Why These Choices: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Flutter ensures cross-device reach.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 is ideal for AI-heavy workloads.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MongoDB handles Content library explainatory videos.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Rou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+ M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del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cura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e, dynam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 STEM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suals.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brid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deployme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 (Pi + Locally Cached) bala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nce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erform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&amp;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lity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2147" y="811757"/>
            <a:ext cx="7860172" cy="64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Frontend: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Flu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tte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 – Cross-platform (Android, Desktop, Web) for unified UI &amp; fast deployment.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3189"/>
              </a:lnSpc>
            </a:pP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Backend: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 + Flask – Lightweight, async, ideal for AI API integration and low-latency responses.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3189"/>
              </a:lnSpc>
            </a:pPr>
            <a:r>
              <a:rPr lang="en-US" sz="2899" spc="-86" b="true">
                <a:solidFill>
                  <a:srgbClr val="6B1F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AI/ML Layer: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Rou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APIs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(Llama-3 Maverick &amp; Kimi K2) – Adapt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ive 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learning,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onte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 generati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and manim code generation.</a:t>
            </a:r>
          </a:p>
          <a:p>
            <a:pPr algn="l" marL="626107" indent="-313054" lvl="1">
              <a:lnSpc>
                <a:spcPts val="3189"/>
              </a:lnSpc>
              <a:buFont typeface="Arial"/>
              <a:buChar char="•"/>
            </a:pP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ustom Ma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nim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Engi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– Math/Phy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cs anim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ation render</a:t>
            </a:r>
            <a:r>
              <a:rPr lang="en-US" sz="2899" spc="-8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ing.</a:t>
            </a:r>
          </a:p>
          <a:p>
            <a:pPr algn="l">
              <a:lnSpc>
                <a:spcPts val="3189"/>
              </a:lnSpc>
            </a:pPr>
          </a:p>
          <a:p>
            <a:pPr algn="l">
              <a:lnSpc>
                <a:spcPts val="26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6745" y="3030930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5" y="0"/>
                </a:lnTo>
                <a:lnTo>
                  <a:pt x="565615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0061" y="2930559"/>
            <a:ext cx="13107877" cy="453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68"/>
              </a:lnSpc>
            </a:pPr>
            <a:r>
              <a:rPr lang="en-US" sz="10789" spc="-323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FEATURES</a:t>
            </a:r>
          </a:p>
          <a:p>
            <a:pPr algn="l">
              <a:lnSpc>
                <a:spcPts val="11868"/>
              </a:lnSpc>
            </a:pPr>
          </a:p>
          <a:p>
            <a:pPr algn="l">
              <a:lnSpc>
                <a:spcPts val="11868"/>
              </a:lnSpc>
            </a:pPr>
            <a:r>
              <a:rPr lang="en-US" sz="10789" spc="-323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269065">
            <a:off x="10311482" y="6369158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4" y="0"/>
                </a:lnTo>
                <a:lnTo>
                  <a:pt x="565614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98482" y="1907778"/>
            <a:ext cx="2431110" cy="235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3"/>
              </a:lnSpc>
            </a:pPr>
            <a:r>
              <a:rPr lang="en-US" sz="13788">
                <a:solidFill>
                  <a:srgbClr val="68503B"/>
                </a:solidFill>
                <a:latin typeface="Brittany"/>
                <a:ea typeface="Brittany"/>
                <a:cs typeface="Brittany"/>
                <a:sym typeface="Brittany"/>
              </a:rPr>
              <a:t>of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2360" y="4046251"/>
            <a:ext cx="8056299" cy="197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5"/>
              </a:lnSpc>
            </a:pPr>
            <a:r>
              <a:rPr lang="en-US" sz="11582" b="true">
                <a:solidFill>
                  <a:srgbClr val="6B1FAD"/>
                </a:solidFill>
                <a:latin typeface="Garet Bold"/>
                <a:ea typeface="Garet Bold"/>
                <a:cs typeface="Garet Bold"/>
                <a:sym typeface="Garet Bold"/>
              </a:rPr>
              <a:t>PANDORA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408296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716000" y="2060126"/>
            <a:ext cx="3543300" cy="7011028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450633" y="5795598"/>
            <a:ext cx="1406947" cy="631237"/>
          </a:xfrm>
          <a:custGeom>
            <a:avLst/>
            <a:gdLst/>
            <a:ahLst/>
            <a:cxnLst/>
            <a:rect r="r" b="b" t="t" l="l"/>
            <a:pathLst>
              <a:path h="631237" w="1406947">
                <a:moveTo>
                  <a:pt x="0" y="0"/>
                </a:moveTo>
                <a:lnTo>
                  <a:pt x="1406946" y="0"/>
                </a:lnTo>
                <a:lnTo>
                  <a:pt x="1406946" y="631237"/>
                </a:lnTo>
                <a:lnTo>
                  <a:pt x="0" y="631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34823" y="2986218"/>
            <a:ext cx="5858476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17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Animation Builder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4823" y="5172075"/>
            <a:ext cx="6022756" cy="253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78" b="true">
                <a:solidFill>
                  <a:srgbClr val="6B1F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Pandora</a:t>
            </a:r>
            <a:r>
              <a:rPr lang="en-US" sz="2600" spc="-78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’s core engine uses LLMs (such as </a:t>
            </a:r>
            <a:r>
              <a:rPr lang="en-US" sz="2600" spc="-78" b="true">
                <a:solidFill>
                  <a:srgbClr val="6850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Maverick </a:t>
            </a:r>
            <a:r>
              <a:rPr lang="en-US" sz="2600" spc="-78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and </a:t>
            </a:r>
            <a:r>
              <a:rPr lang="en-US" sz="2600" spc="-78" b="true">
                <a:solidFill>
                  <a:srgbClr val="6850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Kimi-K2</a:t>
            </a:r>
            <a:r>
              <a:rPr lang="en-US" sz="2600" spc="-78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) to translate natural language prompts into executable         scripts that we automatically render in our render pipeline with </a:t>
            </a:r>
            <a:r>
              <a:rPr lang="en-US" sz="2600" spc="-78">
                <a:solidFill>
                  <a:srgbClr val="EF3A5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error </a:t>
            </a:r>
            <a:r>
              <a:rPr lang="en-US" sz="2600" spc="-78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checks and </a:t>
            </a:r>
            <a:r>
              <a:rPr lang="en-US" sz="2600" spc="-78">
                <a:solidFill>
                  <a:srgbClr val="FC4C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visual consistency checks and give the student production quality videos in minutes</a:t>
            </a:r>
            <a:r>
              <a:rPr lang="en-US" sz="2600" spc="-78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743703" y="2060126"/>
            <a:ext cx="3543300" cy="7011028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8" r="0" b="-158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0" y="5706838"/>
            <a:ext cx="691642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00"/>
              </a:lnSpc>
            </a:pPr>
            <a:r>
              <a:rPr lang="en-US" b="true" sz="6000" spc="-17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 Library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7314672"/>
            <a:ext cx="18288000" cy="2972328"/>
            <a:chOff x="0" y="0"/>
            <a:chExt cx="4816593" cy="782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782835"/>
            </a:xfrm>
            <a:custGeom>
              <a:avLst/>
              <a:gdLst/>
              <a:ahLst/>
              <a:cxnLst/>
              <a:rect r="r" b="b" t="t" l="l"/>
              <a:pathLst>
                <a:path h="7828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82835"/>
                  </a:lnTo>
                  <a:lnTo>
                    <a:pt x="0" y="782835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763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731118" y="2060126"/>
            <a:ext cx="3637882" cy="7198174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60545" y="7630531"/>
            <a:ext cx="5599883" cy="235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799" spc="-83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curated library of tutor-led concept videos accompanies AI-generated animations. Educators can contribute verified, high-quality content aligned with Pandora’s visualizations, blending human expertise with AI precision.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321711" y="2060126"/>
            <a:ext cx="3637882" cy="7198174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58" r="0" b="-158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2399" y="1076325"/>
            <a:ext cx="1558320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17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 </a:t>
            </a:r>
            <a:r>
              <a:rPr lang="en-US" b="true" sz="6000" spc="-179">
                <a:solidFill>
                  <a:srgbClr val="5271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  <a:r>
              <a:rPr lang="en-US" b="true" sz="6000" spc="-179">
                <a:solidFill>
                  <a:srgbClr val="6B1F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pandora</a:t>
            </a:r>
            <a:r>
              <a:rPr lang="en-US" b="true" sz="6000" spc="-17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File Format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7314672"/>
            <a:ext cx="18288000" cy="2972328"/>
            <a:chOff x="0" y="0"/>
            <a:chExt cx="4816593" cy="782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782835"/>
            </a:xfrm>
            <a:custGeom>
              <a:avLst/>
              <a:gdLst/>
              <a:ahLst/>
              <a:cxnLst/>
              <a:rect r="r" b="b" t="t" l="l"/>
              <a:pathLst>
                <a:path h="7828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82835"/>
                  </a:lnTo>
                  <a:lnTo>
                    <a:pt x="0" y="782835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763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86539" y="2328545"/>
            <a:ext cx="7514921" cy="281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b="true" sz="3399" spc="-101">
                <a:solidFill>
                  <a:srgbClr val="6B1F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Pandora </a:t>
            </a:r>
            <a:r>
              <a:rPr lang="en-US" b="true" sz="3399" spc="-101">
                <a:solidFill>
                  <a:srgbClr val="6850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introduces a new </a:t>
            </a:r>
            <a:r>
              <a:rPr lang="en-US" b="true" sz="3399" i="true" spc="-101">
                <a:solidFill>
                  <a:srgbClr val="5271FF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.</a:t>
            </a:r>
            <a:r>
              <a:rPr lang="en-US" b="true" sz="3399" i="true" spc="-101">
                <a:solidFill>
                  <a:srgbClr val="6B1FAD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pandora</a:t>
            </a:r>
            <a:r>
              <a:rPr lang="en-US" b="true" sz="3399" spc="-101">
                <a:solidFill>
                  <a:srgbClr val="6850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document format, combining the readability of LaTeX with the interactivity of animations.</a:t>
            </a:r>
          </a:p>
          <a:p>
            <a:pPr algn="ctr">
              <a:lnSpc>
                <a:spcPts val="3739"/>
              </a:lnSpc>
            </a:pPr>
            <a:r>
              <a:rPr lang="en-US" sz="3399" i="true" spc="-101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Each file includes:</a:t>
            </a:r>
          </a:p>
          <a:p>
            <a:pPr algn="ctr">
              <a:lnSpc>
                <a:spcPts val="37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15350" y="5181600"/>
            <a:ext cx="9457300" cy="399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190"/>
              </a:lnSpc>
              <a:buFont typeface="Arial"/>
              <a:buChar char="•"/>
            </a:pPr>
            <a:r>
              <a:rPr lang="en-US" sz="2900" spc="-87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Animated examples </a:t>
            </a:r>
            <a:r>
              <a:rPr lang="en-US" sz="2900" spc="-87">
                <a:solidFill>
                  <a:srgbClr val="FC4C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embedded </a:t>
            </a:r>
            <a:r>
              <a:rPr lang="en-US" sz="2900" spc="-87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within latex</a:t>
            </a:r>
          </a:p>
          <a:p>
            <a:pPr algn="l">
              <a:lnSpc>
                <a:spcPts val="3190"/>
              </a:lnSpc>
            </a:pPr>
          </a:p>
          <a:p>
            <a:pPr algn="l" marL="626111" indent="-313055" lvl="1">
              <a:lnSpc>
                <a:spcPts val="3190"/>
              </a:lnSpc>
              <a:buFont typeface="Arial"/>
              <a:buChar char="•"/>
            </a:pPr>
            <a:r>
              <a:rPr lang="en-US" sz="2900" spc="-87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Linked DPPs (Daily Practice Problems) directly connected to concepts</a:t>
            </a:r>
          </a:p>
          <a:p>
            <a:pPr algn="l">
              <a:lnSpc>
                <a:spcPts val="3190"/>
              </a:lnSpc>
            </a:pPr>
          </a:p>
          <a:p>
            <a:pPr algn="l" marL="626111" indent="-313055" lvl="1">
              <a:lnSpc>
                <a:spcPts val="3190"/>
              </a:lnSpc>
              <a:buFont typeface="Arial"/>
              <a:buChar char="•"/>
            </a:pPr>
            <a:r>
              <a:rPr lang="en-US" sz="2900" spc="-87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Interactive step-by-step visual solutions</a:t>
            </a:r>
          </a:p>
          <a:p>
            <a:pPr algn="l">
              <a:lnSpc>
                <a:spcPts val="3190"/>
              </a:lnSpc>
            </a:pPr>
          </a:p>
          <a:p>
            <a:pPr algn="l" marL="626111" indent="-313055" lvl="1">
              <a:lnSpc>
                <a:spcPts val="3190"/>
              </a:lnSpc>
              <a:buFont typeface="Arial"/>
              <a:buChar char="•"/>
            </a:pPr>
            <a:r>
              <a:rPr lang="en-US" sz="2900" spc="-87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These files can be opened within Pandora, allowing students to explore problems visually and intuitively, even </a:t>
            </a:r>
            <a:r>
              <a:rPr lang="en-US" sz="2900" spc="-87">
                <a:solidFill>
                  <a:srgbClr val="FC4C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offline</a:t>
            </a:r>
            <a:r>
              <a:rPr lang="en-US" sz="2900" spc="-87">
                <a:solidFill>
                  <a:srgbClr val="6850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69191" y="0"/>
            <a:ext cx="8786537" cy="10287000"/>
            <a:chOff x="0" y="0"/>
            <a:chExt cx="231415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415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4150">
                  <a:moveTo>
                    <a:pt x="0" y="0"/>
                  </a:moveTo>
                  <a:lnTo>
                    <a:pt x="2314150" y="0"/>
                  </a:lnTo>
                  <a:lnTo>
                    <a:pt x="231415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314150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09185" y="299711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4" y="0"/>
                </a:lnTo>
                <a:lnTo>
                  <a:pt x="565614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38042" y="200025"/>
            <a:ext cx="780495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17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AI/Ml</a:t>
            </a:r>
          </a:p>
          <a:p>
            <a:pPr algn="l">
              <a:lnSpc>
                <a:spcPts val="6600"/>
              </a:lnSpc>
            </a:pPr>
            <a:r>
              <a:rPr lang="en-US" sz="6000" spc="-17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22502" y="2705119"/>
            <a:ext cx="4397972" cy="541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72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Caching &amp; Performance:</a:t>
            </a:r>
          </a:p>
          <a:p>
            <a:pPr algn="l" marL="518160" indent="-259080" lvl="1">
              <a:lnSpc>
                <a:spcPts val="2640"/>
              </a:lnSpc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Layered caching (API + local device).</a:t>
            </a:r>
          </a:p>
          <a:p>
            <a:pPr algn="l" marL="518160" indent="-259080" lvl="1">
              <a:lnSpc>
                <a:spcPts val="2640"/>
              </a:lnSpc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Render outputs stored for replay without reprocessing.</a:t>
            </a:r>
          </a:p>
          <a:p>
            <a:pPr algn="l">
              <a:lnSpc>
                <a:spcPts val="2640"/>
              </a:lnSpc>
            </a:pPr>
            <a:r>
              <a:rPr lang="en-US" sz="2400" spc="-72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Edge vs Cloud Inference:</a:t>
            </a:r>
          </a:p>
          <a:p>
            <a:pPr algn="l" marL="518160" indent="-259080" lvl="1">
              <a:lnSpc>
                <a:spcPts val="2640"/>
              </a:lnSpc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Cloud: Heavy LLM + Manim rendering (compute intensive).</a:t>
            </a:r>
          </a:p>
          <a:p>
            <a:pPr algn="l" marL="518160" indent="-259080" lvl="1">
              <a:lnSpc>
                <a:spcPts val="2640"/>
              </a:lnSpc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Edge (Device): Light reasoning, offline caching, and content playback for low-bandwidth use.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5269065">
            <a:off x="5964340" y="1146596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4" y="0"/>
                </a:lnTo>
                <a:lnTo>
                  <a:pt x="565614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5813" y="2294274"/>
            <a:ext cx="4397972" cy="623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599" spc="-77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 Selection: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OpenRouter APIs (GPT/Claude family) for text &amp; explanation generation.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 Manim Engine for visual rendering of Maths/Physics content.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Selection driven by accuracy, reasoning depth, and multilingual adaptability.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599" spc="-77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Prompt Engineering: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Structured multi-part prompts.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Context-aware templates ensure consistent style, tone, and accuracy.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84150" y="1751349"/>
            <a:ext cx="4397972" cy="731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599" spc="-77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Optimization Techniques: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Response caching for repeated queries.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Error checks and loop querying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Prompt compression &amp; token-efficient formatting.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599" spc="-77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Inf</a:t>
            </a:r>
            <a:r>
              <a:rPr lang="en-US" sz="2599" spc="-77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erence Pipeline: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query → Parsed by frontend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Routed to api.vyxm.in → OpenR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(LLM) 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</a:t>
            </a: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ates text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visualization needed → Manim render service triggered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 merged &amp; returned to user app</a:t>
            </a:r>
          </a:p>
          <a:p>
            <a:pPr algn="l" marL="561339" indent="-280669" lvl="1">
              <a:lnSpc>
                <a:spcPts val="2859"/>
              </a:lnSpc>
              <a:buFont typeface="Arial"/>
              <a:buChar char="•"/>
            </a:pPr>
            <a:r>
              <a:rPr lang="en-US" sz="2599" spc="-77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Cached for offline reuse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8786537" cy="10287000"/>
            <a:chOff x="0" y="0"/>
            <a:chExt cx="231415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415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4150">
                  <a:moveTo>
                    <a:pt x="0" y="0"/>
                  </a:moveTo>
                  <a:lnTo>
                    <a:pt x="2314150" y="0"/>
                  </a:lnTo>
                  <a:lnTo>
                    <a:pt x="231415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314150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53454" y="602298"/>
            <a:ext cx="6981092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spc="-191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Data Architecture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7757837" y="0"/>
            <a:ext cx="8786537" cy="10287000"/>
            <a:chOff x="0" y="0"/>
            <a:chExt cx="2314150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415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4150">
                  <a:moveTo>
                    <a:pt x="0" y="0"/>
                  </a:moveTo>
                  <a:lnTo>
                    <a:pt x="2314150" y="0"/>
                  </a:lnTo>
                  <a:lnTo>
                    <a:pt x="231415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314150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8043" y="2146935"/>
            <a:ext cx="15051915" cy="60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Pandora stores structured metadata in MongoDB Atlas and user media in Firebase Storage; small client state (tokens, preferences) is kept locally via shared preferences.</a:t>
            </a:r>
          </a:p>
          <a:p>
            <a:pPr algn="l">
              <a:lnSpc>
                <a:spcPts val="2640"/>
              </a:lnSpc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Core entities:</a:t>
            </a:r>
          </a:p>
          <a:p>
            <a:pPr algn="l">
              <a:lnSpc>
                <a:spcPts val="2640"/>
              </a:lnSpc>
            </a:pPr>
          </a:p>
          <a:p>
            <a:pPr algn="l" marL="518160" indent="-259080" lvl="1">
              <a:lnSpc>
                <a:spcPts val="2640"/>
              </a:lnSpc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Users: profile, email, hobbies, hashed password</a:t>
            </a:r>
          </a:p>
          <a:p>
            <a:pPr algn="l" marL="518160" indent="-259080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Library Videos: title, </a:t>
            </a: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YouTube URL, subject, chapter</a:t>
            </a:r>
          </a:p>
          <a:p>
            <a:pPr algn="l" marL="518160" indent="-259080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Courses: title, description, list of Library Video reffrences</a:t>
            </a:r>
          </a:p>
          <a:p>
            <a:pPr algn="l" marL="518160" indent="-259080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Animations: topic, generated video URL, creator user ID</a:t>
            </a:r>
          </a:p>
          <a:p>
            <a:pPr algn="l" marL="518160" indent="-259080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Recently Accessed: user ID + content reference (video or animation)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Relationships &amp; model: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one-to-many (User → Animations, Course → Library Videos); many-to-many achieved via Recently Accessed for activity/recommendations.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Content flow &amp; management: vet → categorize → enrich metadata → insert into DB (admin panel / scripts).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&amp; privacy: 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 spc="-72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encrypt password hashing, JWT auth for protected APIs, HTTPS transport, encryption-at-rest for storage.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8128" y="635195"/>
            <a:ext cx="9911744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b="true" sz="9999" spc="-29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5964325"/>
            <a:ext cx="18288000" cy="4322675"/>
            <a:chOff x="0" y="0"/>
            <a:chExt cx="4816593" cy="1138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38482"/>
            </a:xfrm>
            <a:custGeom>
              <a:avLst/>
              <a:gdLst/>
              <a:ahLst/>
              <a:cxnLst/>
              <a:rect r="r" b="b" t="t" l="l"/>
              <a:pathLst>
                <a:path h="11384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38482"/>
                  </a:lnTo>
                  <a:lnTo>
                    <a:pt x="0" y="1138482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111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94956" y="2487561"/>
            <a:ext cx="8123577" cy="611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Auth &amp; Authorization: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Firebase Auth for s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ecure 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login, JWT-b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ased session 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toke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n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s, and role-based access (student/teacher/admin).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Rate Limiting &amp; Error Handling: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Global rate limiter (per IP &amp; token) to prevent abuse.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Structured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error responses with standardized HTTP codes.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Third-Party Integrations: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OpenRouter API for AI content generation.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Firebase Analytics for user metrics.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Cloud Manim Renderer for math/physics animation processing.</a:t>
            </a:r>
          </a:p>
          <a:p>
            <a:pPr algn="l">
              <a:lnSpc>
                <a:spcPts val="303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324050" y="2519323"/>
            <a:ext cx="6935250" cy="344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API Structure: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Flask API 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w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ith JSON-b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ased respons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es and both POST and GET based api calling and modular endpoints.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K</a:t>
            </a: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ey Endpoints: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ontent: /render, /query, /ppt (Manim animation trigger)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Quiz: /quiz/get, /quiz/submit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5540" y="603403"/>
            <a:ext cx="12516919" cy="125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0"/>
              </a:lnSpc>
            </a:pPr>
            <a:r>
              <a:rPr lang="en-US" b="true" sz="8800" spc="-264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UI/UX Design Approach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5964325"/>
            <a:ext cx="18288000" cy="4322675"/>
            <a:chOff x="0" y="0"/>
            <a:chExt cx="4816593" cy="1138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38482"/>
            </a:xfrm>
            <a:custGeom>
              <a:avLst/>
              <a:gdLst/>
              <a:ahLst/>
              <a:cxnLst/>
              <a:rect r="r" b="b" t="t" l="l"/>
              <a:pathLst>
                <a:path h="11384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38482"/>
                  </a:lnTo>
                  <a:lnTo>
                    <a:pt x="0" y="1138482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111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94956" y="2487561"/>
            <a:ext cx="8123577" cy="573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Pandora’s design philosophy focuses on simplicity, accessibility, and engagement, ensuring a smooth experience for learners of all backgrounds. The interface is clean and dis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traction-free, using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soft tones and consistent layouts that keep attention on learning content.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Design Principles: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Sim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ple &amp; Intuitive → clear hierarchy, minimal visual noise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Accessible &amp; Inclusive → usable by all ability levels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Offline-First → stable even with limited connectivity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Consistent UI → reusable patterns and predictable motion</a:t>
            </a:r>
          </a:p>
          <a:p>
            <a:pPr algn="l">
              <a:lnSpc>
                <a:spcPts val="303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324050" y="2269997"/>
            <a:ext cx="6935250" cy="7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User Personas &amp; Solutions: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Rural Students: optimized 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assets, offline cach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ing, lightweight screens for low-bandwidth use.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Teachers: access to a curated, quality library and future tools for assigning or tracking content.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Low-Literacy Users: icon-based navigation, minimal text, and animation-driven guidance for clarity.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Core Screens:</a:t>
            </a: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Login  &amp;  Registration → personalized Dashboard → Library (Subject → Chapter → Video) → Content Viewer → Animation Builder.</a:t>
            </a:r>
          </a:p>
          <a:p>
            <a:pPr algn="l">
              <a:lnSpc>
                <a:spcPts val="3036"/>
              </a:lnSpc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Each screen maintains a consistent design language—soft color palette, rounded components, and quick-action buttons—creating an immersive, reliable learning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5540" y="603403"/>
            <a:ext cx="12516919" cy="125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0"/>
              </a:lnSpc>
            </a:pPr>
            <a:r>
              <a:rPr lang="en-US" b="true" sz="8800" spc="-264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UI/UX Design Approach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5964325"/>
            <a:ext cx="18288000" cy="4322675"/>
            <a:chOff x="0" y="0"/>
            <a:chExt cx="4816593" cy="1138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38482"/>
            </a:xfrm>
            <a:custGeom>
              <a:avLst/>
              <a:gdLst/>
              <a:ahLst/>
              <a:cxnLst/>
              <a:rect r="r" b="b" t="t" l="l"/>
              <a:pathLst>
                <a:path h="11384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38482"/>
                  </a:lnTo>
                  <a:lnTo>
                    <a:pt x="0" y="1138482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111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59275" y="2274751"/>
            <a:ext cx="15400025" cy="775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530" spc="-75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Navigation Design</a:t>
            </a:r>
          </a:p>
          <a:p>
            <a:pPr algn="l">
              <a:lnSpc>
                <a:spcPts val="2783"/>
              </a:lnSpc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Bottom Navigation Bar – Dashboard | Library | Profile</a:t>
            </a:r>
          </a:p>
          <a:p>
            <a:pPr algn="l">
              <a:lnSpc>
                <a:spcPts val="2783"/>
              </a:lnSpc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Stack-based flow for Subject → Chapter → Video</a:t>
            </a:r>
          </a:p>
          <a:p>
            <a:pPr algn="l">
              <a:lnSpc>
                <a:spcPts val="2783"/>
              </a:lnSpc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Deep links and consistent back navigation for easy movement</a:t>
            </a:r>
          </a:p>
          <a:p>
            <a:pPr algn="l">
              <a:lnSpc>
                <a:spcPts val="2783"/>
              </a:lnSpc>
            </a:pPr>
          </a:p>
          <a:p>
            <a:pPr algn="l">
              <a:lnSpc>
                <a:spcPts val="2783"/>
              </a:lnSpc>
            </a:pPr>
            <a:r>
              <a:rPr lang="en-US" sz="2530" spc="-75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Accessibility Features</a:t>
            </a:r>
          </a:p>
          <a:p>
            <a:pPr algn="l">
              <a:lnSpc>
                <a:spcPts val="2783"/>
              </a:lnSpc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Semantic labels for screen readers</a:t>
            </a:r>
          </a:p>
          <a:p>
            <a:pPr algn="l">
              <a:lnSpc>
                <a:spcPts val="2783"/>
              </a:lnSpc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Dynamic text sizing and high-contrast themes</a:t>
            </a:r>
          </a:p>
          <a:p>
            <a:pPr algn="l">
              <a:lnSpc>
                <a:spcPts val="2783"/>
              </a:lnSpc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Large tap targets (≥44 pt) for motor accessibility</a:t>
            </a:r>
          </a:p>
          <a:p>
            <a:pPr algn="l">
              <a:lnSpc>
                <a:spcPts val="2783"/>
              </a:lnSpc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Closed captions &amp; audio descriptions in videos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b="true" sz="2530" spc="-75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Offline-First Experience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Local caching of recent videos and animations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Automatic sync when online returns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Offline indicator and retry actions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Upload queue resumes after connectivity restored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b="true" sz="2530" spc="-75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Performance &amp; Localization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</a:t>
            </a: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Vector graphics and Lottie animations for fast loading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Lazy loading and adaptive streaming for low bandwidth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530" spc="-75">
                <a:solidFill>
                  <a:srgbClr val="68503B"/>
                </a:solidFill>
                <a:latin typeface="Open Sauce"/>
                <a:ea typeface="Open Sauce"/>
                <a:cs typeface="Open Sauce"/>
                <a:sym typeface="Open Sauce"/>
              </a:rPr>
              <a:t> • Multi-language support and contextual help for users worldwide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8128" y="635195"/>
            <a:ext cx="9911744" cy="28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b="true" sz="9999" spc="-29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Performance Optimization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5964325"/>
            <a:ext cx="18288000" cy="4322675"/>
            <a:chOff x="0" y="0"/>
            <a:chExt cx="4816593" cy="1138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38482"/>
            </a:xfrm>
            <a:custGeom>
              <a:avLst/>
              <a:gdLst/>
              <a:ahLst/>
              <a:cxnLst/>
              <a:rect r="r" b="b" t="t" l="l"/>
              <a:pathLst>
                <a:path h="11384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38482"/>
                  </a:lnTo>
                  <a:lnTo>
                    <a:pt x="0" y="1138482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111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87784" y="4034323"/>
            <a:ext cx="7475389" cy="496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App Size Optimization (&lt;50 MB):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inified Flutter bundles &amp; dynamic module loading.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Compressed assets and vector-based UI elements.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Lazy Loading: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On-d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emand loading for lessons, quizzes, and animations.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Defers heavy AI/video components until required.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955773" y="4034323"/>
            <a:ext cx="7303527" cy="496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Caching Strategies: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HTTP cac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hing + service workers for offline replay and reduced API calls.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Local caching of rendered videos and AI responses.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Imag</a:t>
            </a:r>
            <a:r>
              <a:rPr lang="en-US" b="true" sz="2760" i="true" spc="-82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 &amp; Video Optimization: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Compressed WebP/MP4 assets.</a:t>
            </a:r>
          </a:p>
          <a:p>
            <a:pPr algn="l" marL="595894" indent="-297947" lvl="1">
              <a:lnSpc>
                <a:spcPts val="3036"/>
              </a:lnSpc>
              <a:buFont typeface="Arial"/>
              <a:buChar char="•"/>
            </a:pP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Pr</a:t>
            </a:r>
            <a:r>
              <a:rPr lang="en-US" sz="2760" i="true" spc="-82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ogressive streaming from api.vyxm.in/generate/videos={video_id} — API returns video location instantly, client pings endpoint until file is ready.</a:t>
            </a:r>
          </a:p>
          <a:p>
            <a:pPr algn="l">
              <a:lnSpc>
                <a:spcPts val="303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16582" y="415746"/>
            <a:ext cx="9254835" cy="21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5"/>
              </a:lnSpc>
            </a:pPr>
            <a:r>
              <a:rPr lang="en-US" b="true" sz="7796" spc="-233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Frontend/backend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5964325"/>
            <a:ext cx="18288000" cy="4322675"/>
            <a:chOff x="0" y="0"/>
            <a:chExt cx="4816593" cy="1138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38482"/>
            </a:xfrm>
            <a:custGeom>
              <a:avLst/>
              <a:gdLst/>
              <a:ahLst/>
              <a:cxnLst/>
              <a:rect r="r" b="b" t="t" l="l"/>
              <a:pathLst>
                <a:path h="11384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38482"/>
                  </a:lnTo>
                  <a:lnTo>
                    <a:pt x="0" y="1138482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111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31123" y="2848758"/>
            <a:ext cx="5754441" cy="7340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Component structure &amp; organization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Frontend (Flutter): core contains shared logic, theme and reusable widgets; features holds self-contained modules (onboarding, auth, dashboard, library, animation_builder, profile), each with its own screens, widgets and state.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Backend (Node.js): MVC-like pattern — Models define schemas, Controllers implement business logic, Routes expose API endpoints; a separate re</a:t>
            </a: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nd</a:t>
            </a: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er-worker and storage/CDN layer handle media.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State management approach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Provider (Flutter) is used for dependency injection and scoped state. It enables: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• Dependency injection of services and repositories into widget subtrees.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• Chang</a:t>
            </a: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 notifications that trigger selective UI rebuilds for better performance.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Routing strategy</a:t>
            </a:r>
          </a:p>
          <a:p>
            <a:pPr algn="l">
              <a:lnSpc>
                <a:spcPts val="2337"/>
              </a:lnSpc>
            </a:pPr>
            <a:r>
              <a:rPr lang="en-US" b="true" sz="2124" i="true" spc="-63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Material navigation with MaterialPageRoute and named routes, augmented by route guards for protected screens, deep-link support, and consistent back-stack behavior for predictable navigation.</a:t>
            </a:r>
          </a:p>
          <a:p>
            <a:pPr algn="l">
              <a:lnSpc>
                <a:spcPts val="233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902606" y="2848758"/>
            <a:ext cx="5737623" cy="719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Code organization (folder structure)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lib/ — main.dart (init + providers)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core/ — theme, config, s</a:t>
            </a: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hared widgets, common services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features/ — per-feature folders (auth, dashboard, library, animation_builder, profile)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services/ — API clients, render queue client, analytics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Reus</a:t>
            </a: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able components library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core/widgets provides standardized UI primitives (buttons, inputs, cards, lo</a:t>
            </a: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ad</a:t>
            </a: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ers, video player). Design tokens (spacing, color, typography) ensure visual consistency and faster development.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T</a:t>
            </a: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esting strategy for frontend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• Unit tests: services, utilities, providers.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• Widget tests: component rendering, interaction and accessibility.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• Integration tests: end-to-end flows (sign-in → dashboard → play/generate → sync).</a:t>
            </a:r>
          </a:p>
          <a:p>
            <a:pPr algn="l">
              <a:lnSpc>
                <a:spcPts val="2385"/>
              </a:lnSpc>
            </a:pPr>
            <a:r>
              <a:rPr lang="en-US" b="true" sz="2168" i="true" spc="-65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Run tests in CI with mocks for network/storage and enforce coverage gates before deploy.</a:t>
            </a:r>
          </a:p>
          <a:p>
            <a:pPr algn="l">
              <a:lnSpc>
                <a:spcPts val="2385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8128" y="635195"/>
            <a:ext cx="9911744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b="true" sz="9999" spc="-29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Roles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2789109"/>
            <a:ext cx="18288000" cy="8398269"/>
            <a:chOff x="0" y="0"/>
            <a:chExt cx="4816593" cy="2211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211890"/>
            </a:xfrm>
            <a:custGeom>
              <a:avLst/>
              <a:gdLst/>
              <a:ahLst/>
              <a:cxnLst/>
              <a:rect r="r" b="b" t="t" l="l"/>
              <a:pathLst>
                <a:path h="221189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11890"/>
                  </a:lnTo>
                  <a:lnTo>
                    <a:pt x="0" y="2211890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2192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55482" y="4298891"/>
            <a:ext cx="3964486" cy="268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3260" i="true" spc="-97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Name</a:t>
            </a:r>
          </a:p>
          <a:p>
            <a:pPr algn="l">
              <a:lnSpc>
                <a:spcPts val="3586"/>
              </a:lnSpc>
            </a:pPr>
          </a:p>
          <a:p>
            <a:pPr algn="l">
              <a:lnSpc>
                <a:spcPts val="3586"/>
              </a:lnSpc>
            </a:pPr>
            <a:r>
              <a:rPr lang="en-US" sz="3260" i="true" spc="-97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Vyom Nishant Patel</a:t>
            </a:r>
          </a:p>
          <a:p>
            <a:pPr algn="l">
              <a:lnSpc>
                <a:spcPts val="3586"/>
              </a:lnSpc>
            </a:pPr>
          </a:p>
          <a:p>
            <a:pPr algn="l">
              <a:lnSpc>
                <a:spcPts val="3586"/>
              </a:lnSpc>
            </a:pPr>
          </a:p>
          <a:p>
            <a:pPr algn="l">
              <a:lnSpc>
                <a:spcPts val="3586"/>
              </a:lnSpc>
            </a:pPr>
            <a:r>
              <a:rPr lang="en-US" sz="3260" i="true" spc="-97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Vrushal Modh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78097" y="4298891"/>
            <a:ext cx="3964486" cy="403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3260" i="true" spc="-97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Roles</a:t>
            </a:r>
          </a:p>
          <a:p>
            <a:pPr algn="l">
              <a:lnSpc>
                <a:spcPts val="3586"/>
              </a:lnSpc>
            </a:pPr>
          </a:p>
          <a:p>
            <a:pPr algn="l">
              <a:lnSpc>
                <a:spcPts val="3586"/>
              </a:lnSpc>
            </a:pPr>
            <a:r>
              <a:rPr lang="en-US" sz="3260" i="true" spc="-97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AI/ML Lead, Ideation &amp; Backend</a:t>
            </a:r>
          </a:p>
          <a:p>
            <a:pPr algn="l">
              <a:lnSpc>
                <a:spcPts val="3586"/>
              </a:lnSpc>
            </a:pPr>
          </a:p>
          <a:p>
            <a:pPr algn="l">
              <a:lnSpc>
                <a:spcPts val="3586"/>
              </a:lnSpc>
            </a:pPr>
            <a:r>
              <a:rPr lang="en-US" sz="3260" i="true" spc="-97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Frontend, Ops/Infrastructure &amp; Backend</a:t>
            </a:r>
          </a:p>
          <a:p>
            <a:pPr algn="l">
              <a:lnSpc>
                <a:spcPts val="358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109707" y="4298891"/>
            <a:ext cx="6149593" cy="403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3260" i="true" spc="-97">
                <a:solidFill>
                  <a:srgbClr val="6850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Responsibilities</a:t>
            </a:r>
          </a:p>
          <a:p>
            <a:pPr algn="l">
              <a:lnSpc>
                <a:spcPts val="3586"/>
              </a:lnSpc>
            </a:pPr>
          </a:p>
          <a:p>
            <a:pPr algn="l">
              <a:lnSpc>
                <a:spcPts val="3586"/>
              </a:lnSpc>
            </a:pPr>
            <a:r>
              <a:rPr lang="en-US" sz="3260" i="true" spc="-97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API development (api.vyxm.in), AI/ML integration (OpenRouter + Manim), backend optimization</a:t>
            </a:r>
          </a:p>
          <a:p>
            <a:pPr algn="l">
              <a:lnSpc>
                <a:spcPts val="3586"/>
              </a:lnSpc>
            </a:pPr>
          </a:p>
          <a:p>
            <a:pPr algn="l">
              <a:lnSpc>
                <a:spcPts val="3586"/>
              </a:lnSpc>
            </a:pPr>
            <a:r>
              <a:rPr lang="en-US" sz="3260" i="true" spc="-97">
                <a:solidFill>
                  <a:srgbClr val="6850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Flutter app development, UI/UX implementation, component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69191" y="0"/>
            <a:ext cx="8786537" cy="10287000"/>
            <a:chOff x="0" y="0"/>
            <a:chExt cx="231415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415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4150">
                  <a:moveTo>
                    <a:pt x="0" y="0"/>
                  </a:moveTo>
                  <a:lnTo>
                    <a:pt x="2314150" y="0"/>
                  </a:lnTo>
                  <a:lnTo>
                    <a:pt x="231415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314150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70635" y="745893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4" y="0"/>
                </a:lnTo>
                <a:lnTo>
                  <a:pt x="565614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6249" y="630143"/>
            <a:ext cx="780495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17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NEXT STEPS &amp;</a:t>
            </a:r>
          </a:p>
          <a:p>
            <a:pPr algn="l">
              <a:lnSpc>
                <a:spcPts val="6600"/>
              </a:lnSpc>
            </a:pPr>
            <a:r>
              <a:rPr lang="en-US" sz="6000" spc="-17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2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2255" y="2732146"/>
            <a:ext cx="5915186" cy="275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0"/>
              </a:lnSpc>
            </a:pPr>
            <a:r>
              <a:rPr lang="en-US" sz="3227" spc="-96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✅ Completed:</a:t>
            </a:r>
          </a:p>
          <a:p>
            <a:pPr algn="l" marL="696915" indent="-348458" lvl="1">
              <a:lnSpc>
                <a:spcPts val="3550"/>
              </a:lnSpc>
              <a:buAutoNum type="arabicPeriod" startAt="1"/>
            </a:pPr>
            <a:r>
              <a:rPr lang="en-US" sz="3227" spc="-9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Backend APIs finalized</a:t>
            </a:r>
          </a:p>
          <a:p>
            <a:pPr algn="l" marL="696915" indent="-348458" lvl="1">
              <a:lnSpc>
                <a:spcPts val="3550"/>
              </a:lnSpc>
              <a:buAutoNum type="arabicPeriod" startAt="1"/>
            </a:pPr>
            <a:r>
              <a:rPr lang="en-US" sz="3227" spc="-9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Frontend core screens implemented</a:t>
            </a:r>
          </a:p>
          <a:p>
            <a:pPr algn="l" marL="696915" indent="-348458" lvl="1">
              <a:lnSpc>
                <a:spcPts val="3550"/>
              </a:lnSpc>
              <a:buAutoNum type="arabicPeriod" startAt="1"/>
            </a:pPr>
            <a:r>
              <a:rPr lang="en-US" sz="3227" spc="-9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AI/ML integration completed</a:t>
            </a:r>
          </a:p>
          <a:p>
            <a:pPr algn="l">
              <a:lnSpc>
                <a:spcPts val="355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5269065">
            <a:off x="9301874" y="1758940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5" y="0"/>
                </a:lnTo>
                <a:lnTo>
                  <a:pt x="565615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92255" y="5742227"/>
            <a:ext cx="6354847" cy="351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6"/>
              </a:lnSpc>
            </a:pPr>
            <a:r>
              <a:rPr lang="en-US" sz="3106" spc="-93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🚀 Next Steps:</a:t>
            </a:r>
          </a:p>
          <a:p>
            <a:pPr algn="l">
              <a:lnSpc>
                <a:spcPts val="3416"/>
              </a:lnSpc>
            </a:pPr>
            <a:r>
              <a:rPr lang="en-US" sz="3106" spc="-93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106" spc="-93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</a:t>
            </a:r>
            <a:r>
              <a:rPr lang="en-US" sz="3106" spc="-93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106" spc="-93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Deploy &amp; Test End-to-End – Full</a:t>
            </a:r>
          </a:p>
          <a:p>
            <a:pPr algn="l">
              <a:lnSpc>
                <a:spcPts val="3416"/>
              </a:lnSpc>
            </a:pPr>
            <a:r>
              <a:rPr lang="en-US" sz="3106" spc="-93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system integration, QA testing,</a:t>
            </a:r>
          </a:p>
          <a:p>
            <a:pPr algn="l">
              <a:lnSpc>
                <a:spcPts val="3416"/>
              </a:lnSpc>
            </a:pPr>
            <a:r>
              <a:rPr lang="en-US" sz="3106" spc="-93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and feedback loop (ETA: 1 week)</a:t>
            </a:r>
          </a:p>
          <a:p>
            <a:pPr algn="l">
              <a:lnSpc>
                <a:spcPts val="3416"/>
              </a:lnSpc>
            </a:pPr>
            <a:r>
              <a:rPr lang="en-US" sz="3106" spc="-93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5. Performance Optimization &amp; Polish,</a:t>
            </a:r>
          </a:p>
          <a:p>
            <a:pPr algn="l">
              <a:lnSpc>
                <a:spcPts val="3416"/>
              </a:lnSpc>
            </a:pPr>
            <a:r>
              <a:rPr lang="en-US" sz="3106" spc="-93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App size reduction, caching, UI</a:t>
            </a:r>
          </a:p>
          <a:p>
            <a:pPr algn="l">
              <a:lnSpc>
                <a:spcPts val="3416"/>
              </a:lnSpc>
            </a:pPr>
            <a:r>
              <a:rPr lang="en-US" sz="3106" spc="-93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refinements (ETA: 1.5 weeks)</a:t>
            </a:r>
          </a:p>
          <a:p>
            <a:pPr algn="l">
              <a:lnSpc>
                <a:spcPts val="341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782865" y="2629281"/>
            <a:ext cx="6256176" cy="524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414" spc="-102" b="true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2 Goals:</a:t>
            </a:r>
          </a:p>
          <a:p>
            <a:pPr algn="l" marL="737090" indent="-368545" lvl="1">
              <a:lnSpc>
                <a:spcPts val="3755"/>
              </a:lnSpc>
              <a:buFont typeface="Arial"/>
              <a:buChar char="•"/>
            </a:pPr>
            <a:r>
              <a:rPr lang="en-US" b="true" sz="3414" spc="-102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Launch pilot with partner schools/NGOs</a:t>
            </a:r>
          </a:p>
          <a:p>
            <a:pPr algn="l" marL="737090" indent="-368545" lvl="1">
              <a:lnSpc>
                <a:spcPts val="3755"/>
              </a:lnSpc>
              <a:buFont typeface="Arial"/>
              <a:buChar char="•"/>
            </a:pPr>
            <a:r>
              <a:rPr lang="en-US" b="true" sz="3414" spc="-102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Add advanced visualization library (3D Manim + AR modules)</a:t>
            </a:r>
          </a:p>
          <a:p>
            <a:pPr algn="l" marL="737090" indent="-368545" lvl="1">
              <a:lnSpc>
                <a:spcPts val="3755"/>
              </a:lnSpc>
              <a:buFont typeface="Arial"/>
              <a:buChar char="•"/>
            </a:pPr>
            <a:r>
              <a:rPr lang="en-US" b="true" sz="3414" spc="-102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Expand multilingual support and offline caching improvements</a:t>
            </a:r>
          </a:p>
          <a:p>
            <a:pPr algn="l">
              <a:lnSpc>
                <a:spcPts val="3755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69191" y="0"/>
            <a:ext cx="8786537" cy="10287000"/>
            <a:chOff x="0" y="0"/>
            <a:chExt cx="231415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415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4150">
                  <a:moveTo>
                    <a:pt x="0" y="0"/>
                  </a:moveTo>
                  <a:lnTo>
                    <a:pt x="2314150" y="0"/>
                  </a:lnTo>
                  <a:lnTo>
                    <a:pt x="231415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DD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314150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74221" y="745893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4" y="0"/>
                </a:lnTo>
                <a:lnTo>
                  <a:pt x="565614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70936" y="619125"/>
            <a:ext cx="421450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17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29281"/>
            <a:ext cx="8124846" cy="687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915" indent="-348458" lvl="1">
              <a:lnSpc>
                <a:spcPts val="3550"/>
              </a:lnSpc>
              <a:buFont typeface="Arial"/>
              <a:buChar char="•"/>
            </a:pPr>
            <a:r>
              <a:rPr lang="en-US" b="true" sz="3227" spc="-96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Problem: </a:t>
            </a:r>
            <a:r>
              <a:rPr lang="en-US" sz="3227" spc="-9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STEM education in India is too theoretical, limiting students’ ability to visualize abstract Maths &amp; Physics concepts.</a:t>
            </a:r>
          </a:p>
          <a:p>
            <a:pPr algn="l">
              <a:lnSpc>
                <a:spcPts val="3550"/>
              </a:lnSpc>
            </a:pPr>
          </a:p>
          <a:p>
            <a:pPr algn="l" marL="696915" indent="-348458" lvl="1">
              <a:lnSpc>
                <a:spcPts val="3550"/>
              </a:lnSpc>
              <a:buFont typeface="Arial"/>
              <a:buChar char="•"/>
            </a:pPr>
            <a:r>
              <a:rPr lang="en-US" b="true" sz="3227" spc="-96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Solution: </a:t>
            </a:r>
            <a:r>
              <a:rPr lang="en-US" sz="3227" spc="-9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 AI-powered platform that generates accurate, interactive visual explanations using Manim, OpenRouter AI, and adaptive learning tools.</a:t>
            </a:r>
          </a:p>
          <a:p>
            <a:pPr algn="l">
              <a:lnSpc>
                <a:spcPts val="3550"/>
              </a:lnSpc>
            </a:pPr>
          </a:p>
          <a:p>
            <a:pPr algn="l" marL="696915" indent="-348458" lvl="1">
              <a:lnSpc>
                <a:spcPts val="3550"/>
              </a:lnSpc>
              <a:buFont typeface="Arial"/>
              <a:buChar char="•"/>
            </a:pPr>
            <a:r>
              <a:rPr lang="en-US" b="true" sz="3227" spc="-96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We’ll Build It: </a:t>
            </a:r>
            <a:r>
              <a:rPr lang="en-US" sz="3227" spc="-96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Flutter frontend + FastAPI backend + OpenRouter AI + Manim rendering pipeline, deployed via api.vyxm.in.</a:t>
            </a:r>
          </a:p>
          <a:p>
            <a:pPr algn="l">
              <a:lnSpc>
                <a:spcPts val="355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10700211">
            <a:off x="7224634" y="756911"/>
            <a:ext cx="565614" cy="565614"/>
          </a:xfrm>
          <a:custGeom>
            <a:avLst/>
            <a:gdLst/>
            <a:ahLst/>
            <a:cxnLst/>
            <a:rect r="r" b="b" t="t" l="l"/>
            <a:pathLst>
              <a:path h="565614" w="565614">
                <a:moveTo>
                  <a:pt x="0" y="0"/>
                </a:moveTo>
                <a:lnTo>
                  <a:pt x="565615" y="0"/>
                </a:lnTo>
                <a:lnTo>
                  <a:pt x="565615" y="565614"/>
                </a:lnTo>
                <a:lnTo>
                  <a:pt x="0" y="565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82865" y="1248956"/>
            <a:ext cx="6256176" cy="782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</a:pPr>
            <a:r>
              <a:rPr lang="en-US" b="true" sz="3714" i="true" spc="-111">
                <a:solidFill>
                  <a:srgbClr val="68503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Expected Impact</a:t>
            </a:r>
          </a:p>
          <a:p>
            <a:pPr algn="l" marL="737089" indent="-368545" lvl="1">
              <a:lnSpc>
                <a:spcPts val="3755"/>
              </a:lnSpc>
              <a:buFont typeface="Arial"/>
              <a:buChar char="•"/>
            </a:pPr>
            <a:r>
              <a:rPr lang="en-US" b="true" sz="3414" spc="-102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Scale: </a:t>
            </a:r>
            <a:r>
              <a:rPr lang="en-US" sz="3414" spc="-10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Reach 10,000+ students across schools &amp; NGOs in the first phase.</a:t>
            </a:r>
          </a:p>
          <a:p>
            <a:pPr algn="l">
              <a:lnSpc>
                <a:spcPts val="3755"/>
              </a:lnSpc>
            </a:pPr>
          </a:p>
          <a:p>
            <a:pPr algn="l" marL="737089" indent="-368545" lvl="1">
              <a:lnSpc>
                <a:spcPts val="3755"/>
              </a:lnSpc>
              <a:buFont typeface="Arial"/>
              <a:buChar char="•"/>
            </a:pPr>
            <a:r>
              <a:rPr lang="en-US" b="true" sz="3414" spc="-102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Impact: </a:t>
            </a:r>
            <a:r>
              <a:rPr lang="en-US" sz="3414" spc="-10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Boost STEM</a:t>
            </a:r>
            <a:r>
              <a:rPr lang="en-US" sz="3414" spc="-10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conceptual understanding by 30% through visual, interactive learning.</a:t>
            </a:r>
          </a:p>
          <a:p>
            <a:pPr algn="l">
              <a:lnSpc>
                <a:spcPts val="3755"/>
              </a:lnSpc>
            </a:pPr>
          </a:p>
          <a:p>
            <a:pPr algn="l" marL="737089" indent="-368545" lvl="1">
              <a:lnSpc>
                <a:spcPts val="3755"/>
              </a:lnSpc>
              <a:buFont typeface="Arial"/>
              <a:buChar char="•"/>
            </a:pPr>
            <a:r>
              <a:rPr lang="en-US" b="true" sz="3414" spc="-102">
                <a:solidFill>
                  <a:srgbClr val="68503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Sustainability: </a:t>
            </a:r>
            <a:r>
              <a:rPr lang="en-US" sz="3414" spc="-102">
                <a:solidFill>
                  <a:srgbClr val="68503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Open-source expansion, cloud + local deployment model, and NGO partnerships for continuous impact post-hackathon.</a:t>
            </a:r>
          </a:p>
          <a:p>
            <a:pPr algn="l">
              <a:lnSpc>
                <a:spcPts val="3755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883278" y="1376241"/>
            <a:ext cx="3375508" cy="6679022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212496" y="1376241"/>
            <a:ext cx="3375508" cy="6679022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58" r="0" b="-158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541199" y="1376241"/>
            <a:ext cx="3375508" cy="6679022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8" r="0" b="-158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8700" y="1133475"/>
            <a:ext cx="4833702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2000" spc="-359" b="true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</a:t>
            </a:r>
            <a:r>
              <a:rPr lang="en-US" b="true" sz="12000" spc="-359">
                <a:solidFill>
                  <a:srgbClr val="685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ank You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12496" y="8007638"/>
            <a:ext cx="7046291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*All visualizations of app screens are</a:t>
            </a:r>
            <a:r>
              <a:rPr lang="en-US" sz="2300" b="true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real</a:t>
            </a:r>
            <a:r>
              <a:rPr lang="en-US" sz="2300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b="true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 </a:t>
            </a:r>
            <a:r>
              <a:rPr lang="en-US" sz="2300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of the product </a:t>
            </a:r>
            <a:r>
              <a:rPr lang="en-US" sz="2300">
                <a:solidFill>
                  <a:srgbClr val="FF2828"/>
                </a:solidFill>
                <a:latin typeface="Canva Sans"/>
                <a:ea typeface="Canva Sans"/>
                <a:cs typeface="Canva Sans"/>
                <a:sym typeface="Canva Sans"/>
              </a:rPr>
              <a:t>not illustrations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937" y="5086350"/>
            <a:ext cx="6857228" cy="424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034" b="true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GitHub: </a:t>
            </a:r>
            <a:r>
              <a:rPr lang="en-US" sz="3034" i="true" u="sng">
                <a:solidFill>
                  <a:srgbClr val="68503B"/>
                </a:solidFill>
                <a:latin typeface="Canva Sans Italics"/>
                <a:ea typeface="Canva Sans Italics"/>
                <a:cs typeface="Canva Sans Italics"/>
                <a:sym typeface="Canva Sans Italics"/>
                <a:hlinkClick r:id="rId5" tooltip="https://github.com/Vyomie/Pandora"/>
              </a:rPr>
              <a:t>github.com/Vyomie/Pandora/</a:t>
            </a:r>
          </a:p>
          <a:p>
            <a:pPr algn="ctr">
              <a:lnSpc>
                <a:spcPts val="4248"/>
              </a:lnSpc>
            </a:pPr>
          </a:p>
          <a:p>
            <a:pPr algn="ctr">
              <a:lnSpc>
                <a:spcPts val="4248"/>
              </a:lnSpc>
            </a:pPr>
            <a:r>
              <a:rPr lang="en-US" b="true" sz="3034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Contact: </a:t>
            </a:r>
          </a:p>
          <a:p>
            <a:pPr algn="ctr">
              <a:lnSpc>
                <a:spcPts val="4248"/>
              </a:lnSpc>
            </a:pPr>
            <a:r>
              <a:rPr lang="en-US" sz="3034">
                <a:solidFill>
                  <a:srgbClr val="68503B"/>
                </a:solidFill>
                <a:latin typeface="Canva Sans"/>
                <a:ea typeface="Canva Sans"/>
                <a:cs typeface="Canva Sans"/>
                <a:sym typeface="Canva Sans"/>
              </a:rPr>
              <a:t>contact@vyxm.in</a:t>
            </a:r>
          </a:p>
          <a:p>
            <a:pPr algn="ctr">
              <a:lnSpc>
                <a:spcPts val="4248"/>
              </a:lnSpc>
            </a:pPr>
          </a:p>
          <a:p>
            <a:pPr algn="ctr">
              <a:lnSpc>
                <a:spcPts val="4248"/>
              </a:lnSpc>
            </a:pPr>
            <a:r>
              <a:rPr lang="en-US" b="true" sz="3034">
                <a:solidFill>
                  <a:srgbClr val="6850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Website:</a:t>
            </a:r>
          </a:p>
          <a:p>
            <a:pPr algn="ctr">
              <a:lnSpc>
                <a:spcPts val="4248"/>
              </a:lnSpc>
            </a:pPr>
            <a:r>
              <a:rPr lang="en-US" sz="3034" i="true" u="sng">
                <a:solidFill>
                  <a:srgbClr val="68503B"/>
                </a:solidFill>
                <a:latin typeface="Canva Sans Italics"/>
                <a:ea typeface="Canva Sans Italics"/>
                <a:cs typeface="Canva Sans Italics"/>
                <a:sym typeface="Canva Sans Italics"/>
                <a:hlinkClick r:id="rId6" tooltip="https://pandora.vyxm.in"/>
              </a:rPr>
              <a:t>pandora.vyxm.in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DAG3otVQ3tY</dc:identifier>
  <dcterms:modified xsi:type="dcterms:W3CDTF">2011-08-01T06:04:30Z</dcterms:modified>
  <cp:revision>1</cp:revision>
  <dc:title>White Beige Simple Step by Steps Presentation</dc:title>
</cp:coreProperties>
</file>